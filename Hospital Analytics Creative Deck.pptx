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DM Sans"/>
      <ns0:bold ns1:id="rIdFont15"/>
      <ns0:regular ns1:id="rIdFont16"/>
    </ns0:embeddedFont>
    <ns0:embeddedFont>
      <ns0:font typeface="Space Grotesk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185cb957-470d-482d-a614-b1dae69f04fb.fntdata" /><ns0:Relationship Id="rIdFont16" Type="http://schemas.openxmlformats.org/officeDocument/2006/relationships/font" Target="fonts/e9b77715-4210-4c12-8b15-994a688abbd1.fntdata" /><ns0:Relationship Id="rIdFont17" Type="http://schemas.openxmlformats.org/officeDocument/2006/relationships/font" Target="fonts/2853073d-564c-4e13-990b-b44460c839f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76400" y="1374576"/>
            <a:ext cx="8839200" cy="4108846"/>
          </a:xfrm>
          <a:prstGeom prst="roundRect">
            <a:avLst>
              <a:gd name="adj" fmla="val 3709"/>
            </a:avLst>
          </a:prstGeom>
          <a:solidFill>
            <a:srgbClr val="0B0F19"/>
          </a:solidFill>
          <a:ln w="19050">
            <a:solidFill>
              <a:srgbClr val="093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0" y="4197548"/>
            <a:ext cx="762000" cy="571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47812" y="2003226"/>
            <a:ext cx="9096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EA5E9"/>
                </a:solidFill>
                <a:latin typeface="DM Sans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403" y="2460426"/>
            <a:ext cx="9551193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Hospital Management</a:t>
            </a:r>
            <a:r>
              <a:t>
</a:t>
            </a:r>
            <a:r>
              <a:rPr b="1" sz="5400" i="0" u="none">
                <a:solidFill>
                  <a:srgbClr val="FFFFFF"/>
                </a:solidFill>
                <a:latin typeface="Space Grotesk"/>
              </a:rPr>
              <a:t>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812" y="4559498"/>
            <a:ext cx="9096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DM Sans"/>
              </a:rPr>
              <a:t>Clinical capacity, financial performance, and patient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52500" y="3457575"/>
            <a:ext cx="2000250" cy="1638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52750" y="3557587"/>
            <a:ext cx="3248025" cy="1438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775" y="3457575"/>
            <a:ext cx="2228850" cy="1638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33700" y="3457575"/>
            <a:ext cx="19050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81725" y="3557587"/>
            <a:ext cx="19050" cy="1438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0575" y="3457575"/>
            <a:ext cx="19050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1762125"/>
            <a:ext cx="11239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DM Sans"/>
              </a:rPr>
              <a:t>MACRO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114550"/>
            <a:ext cx="11239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Key Performance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457575"/>
            <a:ext cx="219075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4.8K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371975"/>
            <a:ext cx="21907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Total 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695825"/>
            <a:ext cx="1847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DM Sans"/>
              </a:rPr>
              <a:t>Annual facility admission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1350" y="3557587"/>
            <a:ext cx="3464718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3B82F6"/>
                </a:solidFill>
                <a:latin typeface="Space Grotesk"/>
              </a:rPr>
              <a:t>₹24.5M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1350" y="4471987"/>
            <a:ext cx="34647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Total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1350" y="4795837"/>
            <a:ext cx="3464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DM Sans"/>
              </a:rPr>
              <a:t>Aggregate gross revenue generated.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457575"/>
            <a:ext cx="219075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371975"/>
            <a:ext cx="21907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Avg Length of Stay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695825"/>
            <a:ext cx="1847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DM Sans"/>
              </a:rPr>
              <a:t>Bed occupancy duration in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8225" y="3557587"/>
            <a:ext cx="32265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8B5CF6"/>
                </a:solidFill>
                <a:latin typeface="Space Grotesk"/>
              </a:rPr>
              <a:t>₹42.6K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8225" y="4471987"/>
            <a:ext cx="322659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Avg Treatment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8225" y="4795837"/>
            <a:ext cx="3226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DM Sans"/>
              </a:rPr>
              <a:t>Per-patient clinical expenditure.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2348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483" y="0"/>
            <a:ext cx="6468516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83" y="1958726"/>
            <a:ext cx="5249316" cy="29405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5085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0810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96535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162" y="3384202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7" y="424145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" y="5098702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1387822"/>
            <a:ext cx="52493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DM Sans"/>
              </a:rPr>
              <a:t>GEOGRAPHIC FOOTPRINT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40247"/>
            <a:ext cx="4509469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Strategic Regional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700" y="3203227"/>
            <a:ext cx="3647033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DM Sans"/>
              </a:rPr>
              <a:t>High density across Delhi and Mumbai.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700" y="4060477"/>
            <a:ext cx="3647033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DM Sans"/>
              </a:rPr>
              <a:t>Growing volume in Lucknow and Prayagraj.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4917727"/>
            <a:ext cx="3647033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DM Sans"/>
              </a:rPr>
              <a:t>Steady month-over-month admission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76600" y="2971800"/>
            <a:ext cx="6210300" cy="5334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76600" y="3886200"/>
            <a:ext cx="6210300" cy="5334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76600" y="4800600"/>
            <a:ext cx="6210300" cy="5334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76600" y="2971800"/>
            <a:ext cx="6210300" cy="533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76600" y="3886200"/>
            <a:ext cx="4657725" cy="5334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76600" y="4800600"/>
            <a:ext cx="3726060" cy="533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1524000"/>
            <a:ext cx="11239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DM Sans"/>
              </a:rPr>
              <a:t>CLINICAL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876425"/>
            <a:ext cx="11239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Total Patients by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090862"/>
            <a:ext cx="261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DM Sans"/>
              </a:rPr>
              <a:t>General Medicine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0" y="3090862"/>
            <a:ext cx="10477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800" i="0" u="none">
                <a:solidFill>
                  <a:srgbClr val="0F172A"/>
                </a:solidFill>
                <a:latin typeface="DM Sans"/>
              </a:rPr>
              <a:t>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005262"/>
            <a:ext cx="261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DM Sans"/>
              </a:rPr>
              <a:t>Neurology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4005262"/>
            <a:ext cx="10477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800" i="0" u="none">
                <a:solidFill>
                  <a:srgbClr val="0F172A"/>
                </a:solidFill>
                <a:latin typeface="DM San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919662"/>
            <a:ext cx="261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DM Sans"/>
              </a:rPr>
              <a:t>Cardiology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0" y="4919662"/>
            <a:ext cx="10477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800" i="0" u="none">
                <a:solidFill>
                  <a:srgbClr val="0F172A"/>
                </a:solidFill>
                <a:latin typeface="DM Sans"/>
              </a:rPr>
              <a:t>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2500" y="2295525"/>
            <a:ext cx="3225849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3149" y="2295525"/>
            <a:ext cx="3225849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13799" y="2295525"/>
            <a:ext cx="3225849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850" y="27717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7717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149" y="2771775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3042" y="952500"/>
            <a:ext cx="732591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Financial Mix &amp;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526" y="3457575"/>
            <a:ext cx="318379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Private 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9331" y="3952875"/>
            <a:ext cx="303218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Primary driver of gross hospital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4176" y="3457575"/>
            <a:ext cx="318379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Self-Pay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980" y="3952875"/>
            <a:ext cx="303218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Direct billing across outpatient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4825" y="3457575"/>
            <a:ext cx="318379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Government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630" y="3952875"/>
            <a:ext cx="303218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State-subsidized demographic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349" y="4124325"/>
            <a:ext cx="3048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99" y="4124325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100" y="3367087"/>
            <a:ext cx="9525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3367087"/>
            <a:ext cx="952500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0399" y="3367087"/>
            <a:ext cx="952500" cy="952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7225" y="3652837"/>
            <a:ext cx="47625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3652837"/>
            <a:ext cx="28575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8524" y="3652837"/>
            <a:ext cx="4762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166687" y="952500"/>
            <a:ext cx="12525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DM Sans"/>
              </a:rPr>
              <a:t>CARE PATHWAY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66687" y="1304925"/>
            <a:ext cx="125253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Patient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60" y="4548187"/>
            <a:ext cx="423392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Space Grotesk"/>
              </a:rPr>
              <a:t>Admitted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268" y="4957762"/>
            <a:ext cx="4032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DM Sans"/>
              </a:rPr>
              <a:t>Active clinical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9110" y="4548187"/>
            <a:ext cx="423392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Space Grotesk"/>
              </a:rPr>
              <a:t>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9918" y="4957762"/>
            <a:ext cx="4032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DM Sans"/>
              </a:rPr>
              <a:t>Scheduled post-care monitoring.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9760" y="4548187"/>
            <a:ext cx="423392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Space Grotesk"/>
              </a:rPr>
              <a:t>Discharged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0568" y="4957762"/>
            <a:ext cx="4032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DM Sans"/>
              </a:rPr>
              <a:t>Successful treatment conclusion.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993701"/>
            <a:ext cx="7620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9205" y="2984301"/>
            <a:ext cx="8713589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Empowering Healthcare</a:t>
            </a:r>
            <a:r>
              <a:t>
</a:t>
            </a:r>
            <a:r>
              <a:rPr b="1" sz="4200" i="0" u="none">
                <a:solidFill>
                  <a:srgbClr val="FFFFFF"/>
                </a:solidFill>
                <a:latin typeface="Space Grotesk"/>
              </a:rPr>
              <a:t> with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6671" y="4569023"/>
            <a:ext cx="829865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DM Sans"/>
              </a:rPr>
              <a:t>Optimizing clinical capacity and driving operational excellence.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42987"/>
            <a:ext cx="9155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DM Sans"/>
              </a:rPr>
              <a:t>https://images.stockcake.com/public/8/f/d/8fd02691-12dd-4211-b6a1-49f333d12265_large/digital-heart-concept-stockcake.jpg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stockcake.com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81175"/>
            <a:ext cx="10048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DM Sans"/>
              </a:rPr>
              <a:t>https://carat.im/_next/image?url=https%3A%2F%2Fassets.carat-api.im%2Fupload_from_app%2Fpublic%2F20260710%2Fe13ba7a9-986f-4c99-b15e-0815c0b9de38.jpg&amp;w=3840&amp;q=75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52650"/>
            <a:ext cx="1409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carat.im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